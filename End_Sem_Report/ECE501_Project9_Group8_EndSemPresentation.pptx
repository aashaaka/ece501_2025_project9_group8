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Helvetica Neue" panose="020B0604020202020204" charset="0"/>
      <p:regular r:id="rId15"/>
      <p:bold r:id="rId16"/>
      <p:italic r:id="rId17"/>
      <p:boldItalic r:id="rId18"/>
    </p:embeddedFont>
    <p:embeddedFont>
      <p:font typeface="Helvetica Neue Ligh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78AB76-F85A-4FD0-AB6A-CF4D5CCF9A89}">
  <a:tblStyle styleId="{3078AB76-F85A-4FD0-AB6A-CF4D5CCF9A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97e8e6b52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3897e8e6b5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7e8e6b52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3897e8e6b52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457e963a6_6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a457e963a6_6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457e963a6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a457e963a6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97e8e6b52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3897e8e6b5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457e963a6_5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g3a457e963a6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457e963a6_5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a457e963a6_5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97e8e6b52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897e8e6b5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e8e6b52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3897e8e6b5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7e8e6b52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g3897e8e6b5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l="29654" t="38312" r="29479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cc.gatech.edu/classes/AY2016/cs4476_fall/results/proj1/html/sshah426/index.html" TargetMode="External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4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help/gads/what-is-particle-swarm-optimization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mathworks.com/help/gads/what-is-particle-swarm-optimization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1439550" y="3330400"/>
            <a:ext cx="93129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100">
                <a:latin typeface="Times New Roman"/>
                <a:ea typeface="Times New Roman"/>
                <a:cs typeface="Times New Roman"/>
                <a:sym typeface="Times New Roman"/>
              </a:rPr>
              <a:t>Hybrid Multi - Frequency Image Illusion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8754675" y="4885675"/>
            <a:ext cx="3332100" cy="16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1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8: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Aashaka Ashara - AU2340086</a:t>
            </a:r>
            <a:endParaRPr sz="16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Bansari Jani - AU2340091</a:t>
            </a:r>
            <a:endParaRPr sz="16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Manasvi </a:t>
            </a:r>
            <a:r>
              <a:rPr lang="en-US" sz="1600" b="1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Gondalia</a:t>
            </a:r>
            <a:r>
              <a:rPr lang="en-US" sz="1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AU2340013</a:t>
            </a:r>
            <a:endParaRPr sz="16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Aaryan Sheth - AU2340247</a:t>
            </a:r>
            <a:endParaRPr sz="1600" b="1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439550" y="4099775"/>
            <a:ext cx="4641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1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ECE 501 : Digital Image Processing</a:t>
            </a:r>
            <a:endParaRPr sz="2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Mehul Raval</a:t>
            </a:r>
            <a:endParaRPr sz="2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587375" y="2100875"/>
            <a:ext cx="65664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Hybrid multi-frequency images: Optical illusion created by low frequency of image 1 and high frequency of image 2.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Low frequencies dominate when viewed from a distance, while high frequencies become noticeable up close.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Applications: Ultrasound fusion imaging, oncology, computer vision and art, optical illusions.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l="10450" t="12628" r="10796" b="3682"/>
          <a:stretch/>
        </p:blipFill>
        <p:spPr>
          <a:xfrm>
            <a:off x="7680174" y="1773250"/>
            <a:ext cx="3673600" cy="4212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347978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 of work done previously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582425" y="1768950"/>
            <a:ext cx="75699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Hybrid images are successfully created by combining low and high frequency images of two different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Low-pass filtering extracted smooth structures, while high-pass filtering preserved edges and fine details.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The resulting hybrid image demonstrates an optical illusion, showing different images at close and far viewing distances.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The project illustrates the practical use of image processing techniques such as Gaussian filtering and convolution.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7475" y="266700"/>
            <a:ext cx="2629750" cy="5848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287078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10930354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268100" y="6432575"/>
            <a:ext cx="70317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Link: </a:t>
            </a: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https://sites.cc.gatech.edu/classes/AY2016/cs4476_fall/results/proj1/html/sshah426/index.html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16" title="cat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799" y="1466413"/>
            <a:ext cx="2476575" cy="218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dog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5799" y="3787721"/>
            <a:ext cx="2476575" cy="218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title="marilyn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3812" y="3956100"/>
            <a:ext cx="1856038" cy="21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einstein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4273" y="1480736"/>
            <a:ext cx="1855104" cy="21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3630925" y="2265400"/>
            <a:ext cx="2360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frequency image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3630925" y="4820675"/>
            <a:ext cx="2129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frequency image</a:t>
            </a:r>
            <a:endParaRPr sz="205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8473875" y="2265375"/>
            <a:ext cx="1991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frequency image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8473875" y="4908125"/>
            <a:ext cx="21297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frequency image</a:t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525328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Grayscale image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937575" y="1837900"/>
            <a:ext cx="8001600" cy="3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55625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+mj-lt"/>
              <a:buAutoNum type="arabicPeriod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Convert grayscale images to BGR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5625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+mj-lt"/>
              <a:buAutoNum type="arabicPeriod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Resize both images to be of same size.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5625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+mj-lt"/>
              <a:buAutoNum type="arabicPeriod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Convert BGR images to YUV format.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55625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Font typeface="+mj-lt"/>
              <a:buAutoNum type="arabicPeriod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Pass both the images through gaussian low-pass filter.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197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979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0525" y="503100"/>
            <a:ext cx="2286000" cy="27315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0525" y="3511263"/>
            <a:ext cx="2286000" cy="2695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525328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Grayscale image methodology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body" idx="1"/>
          </p:nvPr>
        </p:nvSpPr>
        <p:spPr>
          <a:xfrm>
            <a:off x="587375" y="1592275"/>
            <a:ext cx="10583400" cy="4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8425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None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5.  Subtract “near-view” image from its original image to obtain its edges.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8425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None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6.  Combine the Y channels for both the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8425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None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7.  Blend the U and V channels for both the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770"/>
              <a:buFont typeface="+mj-lt"/>
              <a:buAutoNum type="arabicPeriod"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8425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050"/>
              <a:buNone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8.  Merge YUV channels together and convert YUV back to BGR.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3">
            <a:alphaModFix/>
          </a:blip>
          <a:srcRect l="10450" t="12628" r="10796" b="3682"/>
          <a:stretch/>
        </p:blipFill>
        <p:spPr>
          <a:xfrm>
            <a:off x="8982626" y="1773250"/>
            <a:ext cx="2371150" cy="2719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447028" y="-637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Colour Images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9"/>
          <p:cNvSpPr txBox="1">
            <a:spLocks noGrp="1"/>
          </p:cNvSpPr>
          <p:nvPr>
            <p:ph type="body" idx="1"/>
          </p:nvPr>
        </p:nvSpPr>
        <p:spPr>
          <a:xfrm>
            <a:off x="192100" y="662113"/>
            <a:ext cx="11941800" cy="5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8775" algn="l" rtl="0">
              <a:spcBef>
                <a:spcPts val="500"/>
              </a:spcBef>
              <a:spcAft>
                <a:spcPts val="0"/>
              </a:spcAft>
              <a:buSzPts val="2050"/>
              <a:buFont typeface="Times New Roman"/>
              <a:buAutoNum type="arabicPeriod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Images are converted to YUV format, resized to 450 x 450 px, and converted to floats.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spcBef>
                <a:spcPts val="0"/>
              </a:spcBef>
              <a:spcAft>
                <a:spcPts val="0"/>
              </a:spcAft>
              <a:buSzPts val="2050"/>
              <a:buFont typeface="Times New Roman"/>
              <a:buAutoNum type="arabicPeriod"/>
            </a:pPr>
            <a:r>
              <a:rPr lang="en-US" sz="2050">
                <a:latin typeface="Times New Roman"/>
                <a:ea typeface="Times New Roman"/>
                <a:cs typeface="Times New Roman"/>
                <a:sym typeface="Times New Roman"/>
              </a:rPr>
              <a:t>Gaussian and Laplacian pyramids for both the images are created.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200"/>
          </a:p>
        </p:txBody>
      </p:sp>
      <p:pic>
        <p:nvPicPr>
          <p:cNvPr id="146" name="Google Shape;146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50" y="1440048"/>
            <a:ext cx="2191143" cy="214766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8" name="Google Shape;148;p19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9635" y="1440048"/>
            <a:ext cx="2191143" cy="214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4671" y="1435700"/>
            <a:ext cx="2191143" cy="215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 title="downloa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8492" y="1440059"/>
            <a:ext cx="2191143" cy="214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title="download.png"/>
          <p:cNvPicPr preferRelativeResize="0"/>
          <p:nvPr/>
        </p:nvPicPr>
        <p:blipFill rotWithShape="1">
          <a:blip r:embed="rId7">
            <a:alphaModFix/>
          </a:blip>
          <a:srcRect l="199" r="199"/>
          <a:stretch/>
        </p:blipFill>
        <p:spPr>
          <a:xfrm>
            <a:off x="7160777" y="1435711"/>
            <a:ext cx="2191143" cy="215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title="downloa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7375" y="3587724"/>
            <a:ext cx="2191125" cy="21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9" title="downloa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78488" y="3587713"/>
            <a:ext cx="2191150" cy="21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9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63000" y="3587724"/>
            <a:ext cx="2191125" cy="21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title="downloa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311383" y="3583359"/>
            <a:ext cx="2191143" cy="2156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title="download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54125" y="3583363"/>
            <a:ext cx="2191150" cy="215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447028" y="-637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Colour Images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125100" y="734088"/>
            <a:ext cx="11941800" cy="5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3. A target hybrid image is generated through recombination of the levels and conversion to BGR.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25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25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64" name="Google Shape;164;p2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201" y="4160575"/>
            <a:ext cx="3755600" cy="234252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65" name="Google Shape;165;p20"/>
          <p:cNvGraphicFramePr/>
          <p:nvPr>
            <p:extLst>
              <p:ext uri="{D42A27DB-BD31-4B8C-83A1-F6EECF244321}">
                <p14:modId xmlns:p14="http://schemas.microsoft.com/office/powerpoint/2010/main" val="1010345824"/>
              </p:ext>
            </p:extLst>
          </p:nvPr>
        </p:nvGraphicFramePr>
        <p:xfrm>
          <a:off x="2514600" y="1358784"/>
          <a:ext cx="7162800" cy="2519045"/>
        </p:xfrm>
        <a:graphic>
          <a:graphicData uri="http://schemas.openxmlformats.org/drawingml/2006/table">
            <a:tbl>
              <a:tblPr>
                <a:noFill/>
                <a:tableStyleId>{3078AB76-F85A-4FD0-AB6A-CF4D5CCF9A89}</a:tableStyleId>
              </a:tblPr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Pyramid Level</a:t>
                      </a:r>
                      <a:endParaRPr sz="145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Frequency Band</a:t>
                      </a:r>
                      <a:endParaRPr sz="145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Fusion Strategy</a:t>
                      </a:r>
                      <a:endParaRPr sz="1450"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 0 (Finest)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Highest frequencies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near + 20% far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91425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 1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Medium-high frequencies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near + 20% far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91425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 2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Medium-low frequencies</a:t>
                      </a:r>
                      <a:endParaRPr sz="145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near + 20% far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91425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Level 3 (Coarsest)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Lowest frequencies</a:t>
                      </a:r>
                      <a:endParaRPr sz="145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152400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50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far + 20% near</a:t>
                      </a:r>
                      <a:endParaRPr sz="1450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52400" marR="91425" marT="95250" marB="9525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>
            <a:spLocks noGrp="1"/>
          </p:cNvSpPr>
          <p:nvPr>
            <p:ph type="title"/>
          </p:nvPr>
        </p:nvSpPr>
        <p:spPr>
          <a:xfrm>
            <a:off x="447028" y="-637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Colour Images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1"/>
          <p:cNvSpPr txBox="1">
            <a:spLocks noGrp="1"/>
          </p:cNvSpPr>
          <p:nvPr>
            <p:ph type="body" idx="1"/>
          </p:nvPr>
        </p:nvSpPr>
        <p:spPr>
          <a:xfrm>
            <a:off x="125100" y="894863"/>
            <a:ext cx="11941800" cy="53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4. The parameters for an optimized hybrid image are fine tuned through a simple PSO function.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3" name="Google Shape;173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338" y="1529800"/>
            <a:ext cx="5037318" cy="4459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587378" y="-4025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80" name="Google Shape;180;p22"/>
          <p:cNvPicPr preferRelativeResize="0"/>
          <p:nvPr/>
        </p:nvPicPr>
        <p:blipFill rotWithShape="1">
          <a:blip r:embed="rId3">
            <a:alphaModFix/>
          </a:blip>
          <a:srcRect l="7928" t="13262" r="8696" b="4412"/>
          <a:stretch/>
        </p:blipFill>
        <p:spPr>
          <a:xfrm>
            <a:off x="3549075" y="2469736"/>
            <a:ext cx="2194550" cy="19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 rotWithShape="1">
          <a:blip r:embed="rId4">
            <a:alphaModFix/>
          </a:blip>
          <a:srcRect l="10450" t="12628" r="10796" b="3682"/>
          <a:stretch/>
        </p:blipFill>
        <p:spPr>
          <a:xfrm>
            <a:off x="9000025" y="1894202"/>
            <a:ext cx="2676886" cy="30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 title="cat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301" y="1361300"/>
            <a:ext cx="1942425" cy="1710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 title="dog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625" y="3692325"/>
            <a:ext cx="1942425" cy="171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2"/>
          <p:cNvCxnSpPr>
            <a:stCxn id="182" idx="3"/>
            <a:endCxn id="180" idx="1"/>
          </p:cNvCxnSpPr>
          <p:nvPr/>
        </p:nvCxnSpPr>
        <p:spPr>
          <a:xfrm>
            <a:off x="2673726" y="2216444"/>
            <a:ext cx="875400" cy="121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22"/>
          <p:cNvCxnSpPr>
            <a:stCxn id="183" idx="3"/>
            <a:endCxn id="180" idx="1"/>
          </p:cNvCxnSpPr>
          <p:nvPr/>
        </p:nvCxnSpPr>
        <p:spPr>
          <a:xfrm rot="10800000" flipH="1">
            <a:off x="2630050" y="3429075"/>
            <a:ext cx="918900" cy="1118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86" name="Google Shape;186;p22" title="einstein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4273" y="923211"/>
            <a:ext cx="1855104" cy="21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title="marilyn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3812" y="3956100"/>
            <a:ext cx="1856038" cy="218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22"/>
          <p:cNvCxnSpPr>
            <a:stCxn id="186" idx="3"/>
            <a:endCxn id="181" idx="1"/>
          </p:cNvCxnSpPr>
          <p:nvPr/>
        </p:nvCxnSpPr>
        <p:spPr>
          <a:xfrm>
            <a:off x="8299377" y="2015661"/>
            <a:ext cx="700500" cy="1413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22"/>
          <p:cNvCxnSpPr>
            <a:stCxn id="187" idx="3"/>
            <a:endCxn id="181" idx="1"/>
          </p:cNvCxnSpPr>
          <p:nvPr/>
        </p:nvCxnSpPr>
        <p:spPr>
          <a:xfrm rot="10800000" flipH="1">
            <a:off x="8299850" y="3429100"/>
            <a:ext cx="700200" cy="1620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8775" algn="l" rtl="0">
              <a:spcBef>
                <a:spcPts val="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Created a pipeline that generates hybrid images for grayscale and </a:t>
            </a:r>
            <a:r>
              <a:rPr lang="en-US" sz="2050" dirty="0" err="1"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 sets of input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spcBef>
                <a:spcPts val="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Used a parameter tuning guide at Laplacian pyramid fusion, whose resultant image is used as a reference target instead of a random seed.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spcBef>
                <a:spcPts val="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Worked with the YUV </a:t>
            </a:r>
            <a:r>
              <a:rPr lang="en-US" sz="2050" dirty="0" err="1"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 model to make the best use of the visual properties of hybrid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spcBef>
                <a:spcPts val="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Applied Particle Swarm Optimization (PSO) to optimize automatically blur levels, detail intensity, and color blending for </a:t>
            </a:r>
            <a:r>
              <a:rPr lang="en-US" sz="2050" dirty="0" err="1">
                <a:latin typeface="Times New Roman"/>
                <a:ea typeface="Times New Roman"/>
                <a:cs typeface="Times New Roman"/>
                <a:sym typeface="Times New Roman"/>
              </a:rPr>
              <a:t>colour</a:t>
            </a: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 input images.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775" algn="l" rtl="0">
              <a:spcBef>
                <a:spcPts val="0"/>
              </a:spcBef>
              <a:spcAft>
                <a:spcPts val="0"/>
              </a:spcAft>
              <a:buSzPts val="2050"/>
              <a:buFont typeface="Times New Roman"/>
              <a:buChar char="•"/>
            </a:pPr>
            <a:r>
              <a:rPr lang="en-US" sz="2050" dirty="0">
                <a:latin typeface="Times New Roman"/>
                <a:ea typeface="Times New Roman"/>
                <a:cs typeface="Times New Roman"/>
                <a:sym typeface="Times New Roman"/>
              </a:rPr>
              <a:t>Generated hybrids in which high-frequency image prevails at near viewing ranges and the low-frequency image prevails at a long distance with PSO findings being almost identical to those of the pyramid reference.</a:t>
            </a: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594303" y="-743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484973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Fridrich, J. (1999).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A hybrid watermark for tamper detection in digital images.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Proceedings of the Fifth International Symposium on Signal Processing and Its Applications (ISSPA '99).</a:t>
            </a:r>
            <a:endParaRPr sz="15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Oliva, A., Torralba, A., &amp; </a:t>
            </a:r>
            <a:r>
              <a:rPr lang="en-US" sz="1500" dirty="0" err="1">
                <a:latin typeface="Times New Roman"/>
                <a:ea typeface="Times New Roman"/>
                <a:cs typeface="Times New Roman"/>
                <a:sym typeface="Times New Roman"/>
              </a:rPr>
              <a:t>Schyns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P. G. (2006).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Hybrid images.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ACM Transactions on Graphics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(3), 527–530.</a:t>
            </a:r>
            <a:endParaRPr sz="15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Oliva, A. (2013).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The art of hybrid images: Two for the view of one.</a:t>
            </a:r>
            <a:endParaRPr sz="1500" i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Agarwal, J., &amp; Bedi, S. S. (2014).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Implementation of hybrid image fusion technique for feature enhancement in medical diagnosis.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Human-centric Computing and Information Sciences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(1), 1–12.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Jeon, H., Park, D., Youn, H., Nam, J., Lee, J., Ki, Y., Kim, Y. H., Lee, J. H., Kim, D., &amp; Kim, H. K. (2015).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Generation of hybrid sinograms for the recovery of KV-CT images with metal artifacts for helical </a:t>
            </a:r>
            <a:r>
              <a:rPr lang="en-US" sz="1500" i="1" dirty="0" err="1">
                <a:latin typeface="Times New Roman"/>
                <a:ea typeface="Times New Roman"/>
                <a:cs typeface="Times New Roman"/>
                <a:sym typeface="Times New Roman"/>
              </a:rPr>
              <a:t>tomotherapy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Medical Physics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(9), 5155–5166.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Deepa, S. (2017).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Steganalysis on images using SVM with selected hybrid features of Gini index feature selection algorithm.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International Journal of Advanced Research in Computer Science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(5), 100–105.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Pham, N. T., Lee, J.-W., Kwon, G.-R., &amp; Park, C.-S. (2019).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Hybrid image-retrieval method for image-splicing validation.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Symmetry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(5), 661.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Hossain, M. D., &amp; Chen, D. (2022).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A hybrid image segmentation method for building extraction from high-resolution RGB images.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ISPRS Journal of Photogrammetry and Remote Sensing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183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, 150–163.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•"/>
            </a:pP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MathWorks. (n.d.). </a:t>
            </a:r>
            <a:r>
              <a:rPr lang="en-US" sz="1500" i="1" dirty="0">
                <a:latin typeface="Times New Roman"/>
                <a:ea typeface="Times New Roman"/>
                <a:cs typeface="Times New Roman"/>
                <a:sym typeface="Times New Roman"/>
              </a:rPr>
              <a:t>What is particle swarm optimization?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Retrieved November 16, 2025, from</a:t>
            </a:r>
            <a:r>
              <a:rPr lang="en-US" sz="1500" dirty="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r>
              <a:rPr lang="en-US" sz="15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https://www.mathworks.com/help/gads/what-is-particle-swarm-optimization.html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500" u="sng" dirty="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MathWorks</a:t>
            </a:r>
            <a:r>
              <a:rPr lang="en-US" sz="15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endParaRPr sz="15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920</Words>
  <Application>Microsoft Office PowerPoint</Application>
  <PresentationFormat>Widescreen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Helvetica Neue Light</vt:lpstr>
      <vt:lpstr>Helvetica Neue</vt:lpstr>
      <vt:lpstr>Times New Roman</vt:lpstr>
      <vt:lpstr>Calibri</vt:lpstr>
      <vt:lpstr>Arial</vt:lpstr>
      <vt:lpstr>Office Theme</vt:lpstr>
      <vt:lpstr>Hybrid Multi - Frequency Image Illusion                                                            </vt:lpstr>
      <vt:lpstr>Introduction </vt:lpstr>
      <vt:lpstr>Conclusion of work done previously</vt:lpstr>
      <vt:lpstr>Dataset</vt:lpstr>
      <vt:lpstr>Grayscale image methodology</vt:lpstr>
      <vt:lpstr>Grayscale image methodology</vt:lpstr>
      <vt:lpstr>Colour Images Methodology</vt:lpstr>
      <vt:lpstr>Colour Images Methodology</vt:lpstr>
      <vt:lpstr>Colour Images Methodology</vt:lpstr>
      <vt:lpstr>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Aashaka Ashara</cp:lastModifiedBy>
  <cp:revision>5</cp:revision>
  <dcterms:modified xsi:type="dcterms:W3CDTF">2025-11-16T16:54:19Z</dcterms:modified>
</cp:coreProperties>
</file>